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theme/theme14.xml" ContentType="application/vnd.openxmlformats-officedocument.theme+xml"/>
  <Override PartName="/ppt/slideLayouts/slideLayout2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3" r:id="rId15"/>
    <p:sldMasterId id="2147483665" r:id="rId16"/>
  </p:sldMasterIdLst>
  <p:notesMasterIdLst>
    <p:notesMasterId r:id="rId34"/>
  </p:notesMasterIdLst>
  <p:sldIdLst>
    <p:sldId id="256" r:id="rId17"/>
    <p:sldId id="258" r:id="rId18"/>
    <p:sldId id="273" r:id="rId19"/>
    <p:sldId id="259" r:id="rId20"/>
    <p:sldId id="260" r:id="rId21"/>
    <p:sldId id="261" r:id="rId22"/>
    <p:sldId id="263" r:id="rId23"/>
    <p:sldId id="264" r:id="rId24"/>
    <p:sldId id="274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62" r:id="rId33"/>
  </p:sldIdLst>
  <p:sldSz cx="12193588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21" Type="http://schemas.openxmlformats.org/officeDocument/2006/relationships/slide" Target="slides/slide5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6880" y="573120"/>
            <a:ext cx="5027760" cy="282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move the slide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-36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dt" idx="49"/>
          </p:nvPr>
        </p:nvSpPr>
        <p:spPr>
          <a:xfrm>
            <a:off x="586548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ftr" idx="50"/>
          </p:nvPr>
        </p:nvSpPr>
        <p:spPr>
          <a:xfrm>
            <a:off x="-36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6" name="PlaceHolder 6"/>
          <p:cNvSpPr>
            <a:spLocks noGrp="1"/>
          </p:cNvSpPr>
          <p:nvPr>
            <p:ph type="sldNum" idx="51"/>
          </p:nvPr>
        </p:nvSpPr>
        <p:spPr>
          <a:xfrm>
            <a:off x="586548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B2A7E4-58D5-4202-9691-EB5FA58EEFBE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8C7CE57-CD79-4E42-B719-47B14D6E0F4D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E2D4D1C-B52A-40F3-AC76-1A7945595224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1A317C7-B21B-4221-B4CE-ECC213D32050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4EF95C0-1518-49FD-8C2F-2DC0617FE14F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77370FD-2C07-41F9-BFD1-F9754A75396C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7000" y="573088"/>
            <a:ext cx="5027613" cy="2828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B2A7E4-58D5-4202-9691-EB5FA58EEFBE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818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0B0F6FDB-A9A6-4A78-BE43-FCCCE2FFBF8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FD185DCF-F2FF-42B1-966E-541A6BCBAC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2CF0C9-6805-4F69-98F2-7B9B093C5F24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6EA97B-CB8E-4AD3-A2B5-AEF1CCDF5B24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87F6E68-A86C-4F0C-802A-7513A5148CC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F11F554-1BB9-4E53-BFCC-9091C6A04B55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90560" y="633888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56F3298-A0EE-4D9F-93FD-D075B5DD5E7D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1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78E5104-C0CD-4E18-9CE5-AB9AA5FFF56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42B7D2F-18CF-4DA8-8089-B7A8F89E37A2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1B24567-14BD-4D26-9877-2EE4322D3D6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C75C174-79CB-4997-80B9-92572B3977D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79AD1D1-D896-4C92-97BC-A8D9C2A3A27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0CE4663-B5D7-4BA7-9F3C-57A4D0E18C32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7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BAD63E1-920D-47B0-9BEF-28E08FE24FC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520CA04-0A40-44FE-A9FB-C44464AF106E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86B103D-7D0A-43E8-815B-A306E387618D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34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8DAEF01-C882-468F-BE16-5FADDA98A85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1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59757D-8BEA-4515-90BA-A4C1F0080CDB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5E7DAF-741E-44F4-98B2-CA444F7094F1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1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B5169A6-D6B5-4322-A121-E9F51A583299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3630CEE-0C25-4806-AE0A-273DC39EF9C1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DEA791-177F-42A1-919B-D3DABADBB4F0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8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1699811-91E1-4F11-9BF0-9CBF8FDF2A6D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04EAB0B-A169-4F64-A54C-DC63CB1CFFBD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3355AD-1DA8-4CB8-B298-CF61E6858EBF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55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2CCC5E2-CCD4-4E89-8FEC-D17BFCFFC66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dt" idx="25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E33F54B-325B-45EA-9C34-80875993AC69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6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27A74F3-4011-4375-82B4-76700E7C82F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2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FFC07C9-46A5-4541-8226-AF40804FEEE1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dt" idx="28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346B3E-3FFC-43E9-BE2C-A8479ECFA301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29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9541674-CAFE-4F7F-AF14-DCB5861B50ED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9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3BBF78B-79BE-4A04-89C6-3F7EA4A158CF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dt" idx="31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A01D5FD-7884-417B-8DB5-8ED76317260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32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D6AE2A-A9E4-4A3E-9FE5-66C1A4B37FE6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7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5B597ED-365A-4C36-A8AA-9ABAA9EA335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dt" idx="3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353BCC-223D-4973-9651-8758FCE279DB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35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7FE7BD-5206-4E9C-AB54-287B60B84B6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8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9A25EEC-7EC3-4FF1-9D7C-77D9194A556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dt" idx="3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2508CA-E10C-4B34-AF99-CDD2EB00A57B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3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B91C22-050C-4E97-AF0C-2024B3580924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/>
          <p:cNvPicPr/>
          <p:nvPr/>
        </p:nvPicPr>
        <p:blipFill>
          <a:blip r:embed="rId3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9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282764B-A34F-4806-8021-63AD2A9DA82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dt" idx="4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B2E17F2-9098-48E4-8F78-FD61F1C5C92E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ftr" idx="4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65272C-6FC1-41E2-9AD9-BB462C2427C0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4"/>
          <p:cNvPicPr/>
          <p:nvPr/>
        </p:nvPicPr>
        <p:blipFill>
          <a:blip r:embed="rId3"/>
          <a:stretch/>
        </p:blipFill>
        <p:spPr>
          <a:xfrm>
            <a:off x="2567160" y="592200"/>
            <a:ext cx="7610400" cy="1008000"/>
          </a:xfrm>
          <a:prstGeom prst="rect">
            <a:avLst/>
          </a:prstGeom>
          <a:ln w="0">
            <a:noFill/>
          </a:ln>
        </p:spPr>
      </p:pic>
      <p:sp>
        <p:nvSpPr>
          <p:cNvPr id="97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98B10FC-CC75-4D5B-B010-321B581A6E4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dt" idx="4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D1A19B9-9A51-41C0-B16D-593C7512FB68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4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1ECEBBE-7AB1-483A-9E74-3E742546601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4"/>
          <p:cNvPicPr/>
          <p:nvPr/>
        </p:nvPicPr>
        <p:blipFill>
          <a:blip r:embed="rId2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104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EE78F3-A5EE-4745-874B-07F9D332D4D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dt" idx="4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2DDB579-75ED-464E-A8E9-C1CFFF683D14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22-09-2026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4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9F5A7CB-8DD3-44E3-A13E-5AA39F8A0733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/>
          <p:nvPr/>
        </p:nvSpPr>
        <p:spPr>
          <a:xfrm>
            <a:off x="748454" y="1349192"/>
            <a:ext cx="10696680" cy="21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000" b="1" strike="noStrike" spc="-1" dirty="0">
                <a:solidFill>
                  <a:srgbClr val="002060"/>
                </a:solidFill>
                <a:latin typeface="Calibri"/>
              </a:rPr>
              <a:t>CAPSTONE PROJECT – REVIEW 2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IN" sz="3600" b="1" strike="noStrike" spc="-1" dirty="0">
                <a:solidFill>
                  <a:srgbClr val="002060"/>
                </a:solidFill>
                <a:latin typeface="Calibri"/>
              </a:rPr>
              <a:t>EMPLOYEE PAYROLL MANAGEMENT 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200" b="1" strike="noStrike" spc="-1" dirty="0">
                <a:solidFill>
                  <a:srgbClr val="002060"/>
                </a:solidFill>
                <a:latin typeface="Calibri"/>
              </a:rPr>
              <a:t>Using Object-Oriented Programming in C++</a:t>
            </a:r>
            <a:endParaRPr lang="en-US" sz="22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18" name="Subtitle 2"/>
          <p:cNvSpPr/>
          <p:nvPr/>
        </p:nvSpPr>
        <p:spPr>
          <a:xfrm>
            <a:off x="-1877842" y="4458808"/>
            <a:ext cx="8076960" cy="20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strike="noStrike" spc="-1" dirty="0">
                <a:latin typeface="Calibri"/>
              </a:rPr>
              <a:t>PRESENTED BY: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Yaswanth Raju – 25B11CS754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Likhitha – 25B11CS766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Surya Sai – 25B11CS793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Siri – 25B11CS795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42FB6-F68D-2101-DF02-56EE32DBE914}"/>
              </a:ext>
            </a:extLst>
          </p:cNvPr>
          <p:cNvSpPr txBox="1"/>
          <p:nvPr/>
        </p:nvSpPr>
        <p:spPr>
          <a:xfrm>
            <a:off x="4675239" y="919913"/>
            <a:ext cx="6361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F43B1-81C4-B936-65A9-37E5CC3CF3AA}"/>
              </a:ext>
            </a:extLst>
          </p:cNvPr>
          <p:cNvSpPr txBox="1"/>
          <p:nvPr/>
        </p:nvSpPr>
        <p:spPr>
          <a:xfrm>
            <a:off x="873028" y="2185681"/>
            <a:ext cx="9784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14141"/>
                </a:solidFill>
              </a:defRPr>
            </a:pPr>
            <a:r>
              <a:rPr dirty="0"/>
              <a:t>The Employee Payroll System is a C++ application designed to manage employee details and automate salary calculations. It replaces manual payroll methods with a simple, accurate and organized system that calculates salaries and generates pays</a:t>
            </a:r>
            <a:r>
              <a:rPr lang="en-IN" dirty="0"/>
              <a:t> </a:t>
            </a:r>
            <a:r>
              <a:rPr dirty="0"/>
              <a:t>lips.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148164-2755-E3BD-C6DA-A44DF3C261AD}"/>
              </a:ext>
            </a:extLst>
          </p:cNvPr>
          <p:cNvSpPr/>
          <p:nvPr/>
        </p:nvSpPr>
        <p:spPr>
          <a:xfrm>
            <a:off x="599695" y="3545029"/>
            <a:ext cx="3376877" cy="2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5B8AFB-BE82-E198-F9B8-4050670860ED}"/>
              </a:ext>
            </a:extLst>
          </p:cNvPr>
          <p:cNvSpPr txBox="1"/>
          <p:nvPr/>
        </p:nvSpPr>
        <p:spPr>
          <a:xfrm>
            <a:off x="695581" y="4771652"/>
            <a:ext cx="2912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Employee details are recorded</a:t>
            </a:r>
            <a:br>
              <a:rPr lang="en-US" sz="1400" dirty="0"/>
            </a:br>
            <a:r>
              <a:rPr lang="en-US" sz="1400" dirty="0"/>
              <a:t>in a structured format</a:t>
            </a: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3144E5-AA12-50BA-93AC-211BDED10087}"/>
              </a:ext>
            </a:extLst>
          </p:cNvPr>
          <p:cNvSpPr txBox="1"/>
          <p:nvPr/>
        </p:nvSpPr>
        <p:spPr>
          <a:xfrm>
            <a:off x="-892602" y="3656594"/>
            <a:ext cx="6361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r>
              <a:rPr lang="en-IN" sz="1800" dirty="0"/>
              <a:t>STORE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C65A2D-1F5C-EEF4-72EC-8BF7089C2287}"/>
              </a:ext>
            </a:extLst>
          </p:cNvPr>
          <p:cNvSpPr/>
          <p:nvPr/>
        </p:nvSpPr>
        <p:spPr>
          <a:xfrm>
            <a:off x="4792400" y="3525914"/>
            <a:ext cx="3376877" cy="2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1C02A54-ED8E-E591-0CC7-BE98701FAD83}"/>
              </a:ext>
            </a:extLst>
          </p:cNvPr>
          <p:cNvSpPr/>
          <p:nvPr/>
        </p:nvSpPr>
        <p:spPr>
          <a:xfrm>
            <a:off x="8370184" y="3472220"/>
            <a:ext cx="3376877" cy="2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AE61CD-E6A4-158A-B5EA-17E35904BF8E}"/>
              </a:ext>
            </a:extLst>
          </p:cNvPr>
          <p:cNvSpPr txBox="1"/>
          <p:nvPr/>
        </p:nvSpPr>
        <p:spPr>
          <a:xfrm>
            <a:off x="5337838" y="3651864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r>
              <a:rPr dirty="0"/>
              <a:t>CALCULATE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F3E8D9-2E91-F6CC-1816-77816208DAF3}"/>
              </a:ext>
            </a:extLst>
          </p:cNvPr>
          <p:cNvSpPr txBox="1"/>
          <p:nvPr/>
        </p:nvSpPr>
        <p:spPr>
          <a:xfrm>
            <a:off x="5148330" y="4644642"/>
            <a:ext cx="24320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300">
                <a:solidFill>
                  <a:srgbClr val="464646"/>
                </a:solidFill>
              </a:defRPr>
            </a:pPr>
            <a:r>
              <a:rPr sz="1400" dirty="0"/>
              <a:t>Gross and net salary are</a:t>
            </a:r>
            <a:br>
              <a:rPr sz="1400" dirty="0"/>
            </a:br>
            <a:r>
              <a:rPr sz="1400" dirty="0"/>
              <a:t>calculated automatically.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DD86AB-B967-1DA9-54B8-C071A194623F}"/>
              </a:ext>
            </a:extLst>
          </p:cNvPr>
          <p:cNvSpPr txBox="1"/>
          <p:nvPr/>
        </p:nvSpPr>
        <p:spPr>
          <a:xfrm>
            <a:off x="8949600" y="3591767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r>
              <a:rPr dirty="0"/>
              <a:t>GENERATE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CEE28-F761-351A-2093-6219402F4B4C}"/>
              </a:ext>
            </a:extLst>
          </p:cNvPr>
          <p:cNvSpPr txBox="1"/>
          <p:nvPr/>
        </p:nvSpPr>
        <p:spPr>
          <a:xfrm>
            <a:off x="8623101" y="4644642"/>
            <a:ext cx="28710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300">
                <a:solidFill>
                  <a:srgbClr val="464646"/>
                </a:solidFill>
              </a:defRPr>
            </a:pPr>
            <a:r>
              <a:rPr sz="1400" dirty="0"/>
              <a:t>A formatted pays</a:t>
            </a:r>
            <a:r>
              <a:rPr lang="en-IN" sz="1400" dirty="0"/>
              <a:t> </a:t>
            </a:r>
            <a:r>
              <a:rPr sz="1400" dirty="0"/>
              <a:t>lip is created</a:t>
            </a:r>
            <a:br>
              <a:rPr sz="1400" dirty="0"/>
            </a:br>
            <a:r>
              <a:rPr sz="1400" dirty="0"/>
              <a:t>for each employee.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2A22A-CEBC-30C0-8396-6F665292D717}"/>
              </a:ext>
            </a:extLst>
          </p:cNvPr>
          <p:cNvSpPr txBox="1"/>
          <p:nvPr/>
        </p:nvSpPr>
        <p:spPr>
          <a:xfrm>
            <a:off x="3873909" y="59379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31CAB-F8B4-F208-B713-5310078764B8}"/>
              </a:ext>
            </a:extLst>
          </p:cNvPr>
          <p:cNvSpPr txBox="1"/>
          <p:nvPr/>
        </p:nvSpPr>
        <p:spPr>
          <a:xfrm>
            <a:off x="623365" y="1807661"/>
            <a:ext cx="10789920" cy="438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A console-based C++ application for managing employee details and salary calculations.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Stores employee ID, name, department, basic salary, bonus and deduction.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Automatically calculates Gross Salary and Net Salary.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Generates a formatted employee </a:t>
            </a:r>
            <a:r>
              <a:rPr dirty="0" err="1"/>
              <a:t>payslip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Replaces slow and error-prone manual payroll calculations with a simple structured program.</a:t>
            </a:r>
          </a:p>
        </p:txBody>
      </p:sp>
    </p:spTree>
    <p:extLst>
      <p:ext uri="{BB962C8B-B14F-4D97-AF65-F5344CB8AC3E}">
        <p14:creationId xmlns:p14="http://schemas.microsoft.com/office/powerpoint/2010/main" val="59464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10394" y="235030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Manual payroll processing is time-consuming for the HR / accounts team.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Manual salary calculations are prone to human errors.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Permanent and contract employees have different, complex salary rules to apply.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Manual methods lead to delays and inconsistencies while generating payslips and reports.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4BD8BC-D9E5-618D-81AF-1F1CE3BBD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934" y="1022874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DA7A0-7DA2-B319-580B-43ED6B1AC982}"/>
              </a:ext>
            </a:extLst>
          </p:cNvPr>
          <p:cNvSpPr txBox="1"/>
          <p:nvPr/>
        </p:nvSpPr>
        <p:spPr>
          <a:xfrm>
            <a:off x="2441540" y="6381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E5938-CF71-AF29-E5F8-FE6969BE22B7}"/>
              </a:ext>
            </a:extLst>
          </p:cNvPr>
          <p:cNvSpPr txBox="1"/>
          <p:nvPr/>
        </p:nvSpPr>
        <p:spPr>
          <a:xfrm>
            <a:off x="530640" y="1571687"/>
            <a:ext cx="10789920" cy="487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Store employee information in a structured format.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Calculate salary components automatically and consistently.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Calculate Gross Salary and Net Salary without manual arithmetic.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Use C++ structures, pointers, functions and input/output operations.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Generate a clear and formatted pay</a:t>
            </a:r>
            <a:r>
              <a:rPr lang="en-IN" dirty="0"/>
              <a:t> </a:t>
            </a:r>
            <a:r>
              <a:rPr dirty="0"/>
              <a:t>slip.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Reduce manual errors and save administrative time.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Design the program in a modular and extensible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96908" y="238951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Employee Record Management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Salary Calculation (</a:t>
            </a:r>
            <a:r>
              <a:rPr lang="en-IN" sz="3000" spc="-1" dirty="0">
                <a:solidFill>
                  <a:srgbClr val="000000"/>
                </a:solidFill>
                <a:latin typeface="Times New Roman"/>
                <a:ea typeface="Times New Roman"/>
              </a:rPr>
              <a:t>Gross salary ,</a:t>
            </a: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Deduction &amp; Net salary )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Payslip Generation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Payroll Report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Menu-Driven Interface</a:t>
            </a: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679500" indent="-571500">
              <a:lnSpc>
                <a:spcPct val="100000"/>
              </a:lnSpc>
              <a:spcBef>
                <a:spcPts val="1412"/>
              </a:spcBef>
              <a:buFont typeface="Wingdings" panose="05000000000000000000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E2EC3-5483-F2CF-289B-1438B461A5CA}"/>
              </a:ext>
            </a:extLst>
          </p:cNvPr>
          <p:cNvSpPr txBox="1"/>
          <p:nvPr/>
        </p:nvSpPr>
        <p:spPr>
          <a:xfrm>
            <a:off x="2389239" y="99209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1598245" y="554976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/>
            <a:endParaRPr lang="en-IN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Implementation</a:t>
            </a:r>
            <a:r>
              <a:rPr lang="en-US" sz="4800" b="0" strike="noStrike" spc="-1" dirty="0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Progress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2" name="Right Arrow 131"/>
          <p:cNvSpPr/>
          <p:nvPr/>
        </p:nvSpPr>
        <p:spPr>
          <a:xfrm>
            <a:off x="2980000" y="22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ight Arrow 133"/>
          <p:cNvSpPr/>
          <p:nvPr/>
        </p:nvSpPr>
        <p:spPr>
          <a:xfrm>
            <a:off x="5225390" y="2252178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ight Arrow 135"/>
          <p:cNvSpPr/>
          <p:nvPr/>
        </p:nvSpPr>
        <p:spPr>
          <a:xfrm>
            <a:off x="7513984" y="2245173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Down Arrow 137"/>
          <p:cNvSpPr/>
          <p:nvPr/>
        </p:nvSpPr>
        <p:spPr>
          <a:xfrm>
            <a:off x="1750000" y="2830000"/>
            <a:ext cx="180000" cy="690000"/>
          </a:xfrm>
          <a:prstGeom prst="down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55940" y="2751271"/>
            <a:ext cx="2600000" cy="6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41" name="Right Arrow 140"/>
          <p:cNvSpPr/>
          <p:nvPr/>
        </p:nvSpPr>
        <p:spPr>
          <a:xfrm>
            <a:off x="2904092" y="39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ight Arrow 142"/>
          <p:cNvSpPr/>
          <p:nvPr/>
        </p:nvSpPr>
        <p:spPr>
          <a:xfrm>
            <a:off x="5235398" y="3905464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ight Arrow 144"/>
          <p:cNvSpPr/>
          <p:nvPr/>
        </p:nvSpPr>
        <p:spPr>
          <a:xfrm>
            <a:off x="7604780" y="3905464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00000" y="475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Implementation uses a vector&lt;unique_ptr&lt;Employee&gt;&gt; to store polymorphic employee objects, with allowance/deduction logic resolved at runtime through virtual functions.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5D4955-D699-EC91-C4F8-748574A30D95}"/>
              </a:ext>
            </a:extLst>
          </p:cNvPr>
          <p:cNvSpPr/>
          <p:nvPr/>
        </p:nvSpPr>
        <p:spPr>
          <a:xfrm>
            <a:off x="1129326" y="1911409"/>
            <a:ext cx="1850674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9406D-86C7-B9BA-ED8C-CE5F7A742A9C}"/>
              </a:ext>
            </a:extLst>
          </p:cNvPr>
          <p:cNvSpPr txBox="1"/>
          <p:nvPr/>
        </p:nvSpPr>
        <p:spPr>
          <a:xfrm>
            <a:off x="-1126072" y="2148638"/>
            <a:ext cx="63614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Input Employee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Details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7F0A2E-D77E-3281-8D6E-9CC8F4F64597}"/>
              </a:ext>
            </a:extLst>
          </p:cNvPr>
          <p:cNvSpPr/>
          <p:nvPr/>
        </p:nvSpPr>
        <p:spPr>
          <a:xfrm>
            <a:off x="3240000" y="1932730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22B1F-1C05-A2F4-547B-26EDDBA87593}"/>
              </a:ext>
            </a:extLst>
          </p:cNvPr>
          <p:cNvSpPr txBox="1"/>
          <p:nvPr/>
        </p:nvSpPr>
        <p:spPr>
          <a:xfrm>
            <a:off x="862312" y="2122139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Create Employee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Object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53CB73-B8D8-A1BD-BD60-21AEA098B3B7}"/>
              </a:ext>
            </a:extLst>
          </p:cNvPr>
          <p:cNvSpPr/>
          <p:nvPr/>
        </p:nvSpPr>
        <p:spPr>
          <a:xfrm>
            <a:off x="5528268" y="3584606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/>
              </a:rPr>
              <a:t>Calculate Net</a:t>
            </a:r>
          </a:p>
          <a:p>
            <a:pPr algn="ctr"/>
            <a:r>
              <a:rPr lang="en-IN" b="1">
                <a:solidFill>
                  <a:srgbClr val="000000"/>
                </a:solidFill>
                <a:latin typeface="Times New Roman"/>
              </a:rPr>
              <a:t>Salary</a:t>
            </a:r>
            <a:endParaRPr lang="en-IN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CBAE08-DC16-37CF-90F2-68E68140F93C}"/>
              </a:ext>
            </a:extLst>
          </p:cNvPr>
          <p:cNvSpPr/>
          <p:nvPr/>
        </p:nvSpPr>
        <p:spPr>
          <a:xfrm>
            <a:off x="7775359" y="1956408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D35AB1-B5D8-0667-C2A9-73A74068385D}"/>
              </a:ext>
            </a:extLst>
          </p:cNvPr>
          <p:cNvSpPr/>
          <p:nvPr/>
        </p:nvSpPr>
        <p:spPr>
          <a:xfrm>
            <a:off x="3181974" y="3584607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028D12-52C5-DEB3-695A-791FA0AEB4B4}"/>
              </a:ext>
            </a:extLst>
          </p:cNvPr>
          <p:cNvSpPr/>
          <p:nvPr/>
        </p:nvSpPr>
        <p:spPr>
          <a:xfrm>
            <a:off x="5501988" y="1956408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C380B7-51B9-B840-7E5B-C756361175E6}"/>
              </a:ext>
            </a:extLst>
          </p:cNvPr>
          <p:cNvSpPr/>
          <p:nvPr/>
        </p:nvSpPr>
        <p:spPr>
          <a:xfrm>
            <a:off x="7874562" y="3571770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3EE7A0-BFC3-FFDF-3990-8FEE7821D52B}"/>
              </a:ext>
            </a:extLst>
          </p:cNvPr>
          <p:cNvSpPr/>
          <p:nvPr/>
        </p:nvSpPr>
        <p:spPr>
          <a:xfrm>
            <a:off x="895242" y="3567049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52BE21-DACB-CDF1-8428-0AC5DC32895F}"/>
              </a:ext>
            </a:extLst>
          </p:cNvPr>
          <p:cNvSpPr txBox="1"/>
          <p:nvPr/>
        </p:nvSpPr>
        <p:spPr>
          <a:xfrm>
            <a:off x="3169010" y="2142888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Select Employee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Type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CF6A32-D5D4-9BA9-57CF-6CAB018C7804}"/>
              </a:ext>
            </a:extLst>
          </p:cNvPr>
          <p:cNvSpPr txBox="1"/>
          <p:nvPr/>
        </p:nvSpPr>
        <p:spPr>
          <a:xfrm>
            <a:off x="5515058" y="2094700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Calculate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Allowance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545B10-F341-0AD3-8132-9F98BA9FC4BA}"/>
              </a:ext>
            </a:extLst>
          </p:cNvPr>
          <p:cNvSpPr txBox="1"/>
          <p:nvPr/>
        </p:nvSpPr>
        <p:spPr>
          <a:xfrm>
            <a:off x="-1353982" y="3825982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Calculate Gross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Salary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E5C2EA-37E2-8A39-03AD-8ED82713B5F4}"/>
              </a:ext>
            </a:extLst>
          </p:cNvPr>
          <p:cNvSpPr txBox="1"/>
          <p:nvPr/>
        </p:nvSpPr>
        <p:spPr>
          <a:xfrm>
            <a:off x="880217" y="3726433"/>
            <a:ext cx="6794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Calculate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Deduction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0D8C21-4332-0BD6-7E6A-8B916B162E61}"/>
              </a:ext>
            </a:extLst>
          </p:cNvPr>
          <p:cNvSpPr txBox="1"/>
          <p:nvPr/>
        </p:nvSpPr>
        <p:spPr>
          <a:xfrm>
            <a:off x="8004562" y="3753178"/>
            <a:ext cx="178766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Generate Payslip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/ Report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Class</a:t>
            </a:r>
            <a:r>
              <a:rPr lang="en-US" sz="4800" b="0" strike="noStrike" spc="-1" dirty="0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Structure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296794" y="1300000"/>
            <a:ext cx="3600000" cy="1500000"/>
          </a:xfrm>
          <a:prstGeom prst="rect">
            <a:avLst/>
          </a:prstGeom>
          <a:solidFill>
            <a:srgbClr val="EAF1FB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(Abstract Base Class)</a:t>
            </a:r>
          </a:p>
          <a:p>
            <a:pPr algn="ctr"/>
            <a:endParaRPr sz="1300" b="1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employeeId, name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department, designation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basicSalary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91794" y="2800000"/>
            <a:ext cx="1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096794" y="2800000"/>
            <a:ext cx="25000" cy="35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3496794" y="3150000"/>
            <a:ext cx="5200000" cy="25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3496794" y="3150000"/>
            <a:ext cx="25000" cy="30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8696794" y="3150000"/>
            <a:ext cx="25000" cy="30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346794" y="3450000"/>
            <a:ext cx="4300000" cy="1900000"/>
          </a:xfrm>
          <a:prstGeom prst="rect">
            <a:avLst/>
          </a:prstGeom>
          <a:solidFill>
            <a:srgbClr val="EAFBEE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PermanentEmployee</a:t>
            </a:r>
          </a:p>
          <a:p>
            <a:pPr algn="ctr"/>
            <a:endParaRPr sz="1300" b="1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bonus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calculateAllowance(): HRA + DA + bonus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calculateDeduction(): 12% PF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46794" y="3450000"/>
            <a:ext cx="4300000" cy="1900000"/>
          </a:xfrm>
          <a:prstGeom prst="rect">
            <a:avLst/>
          </a:prstGeom>
          <a:solidFill>
            <a:srgbClr val="FBF3EA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ContractEmployee</a:t>
            </a:r>
          </a:p>
          <a:p>
            <a:pPr algn="ctr"/>
            <a:endParaRPr sz="1300" b="1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transportAllowance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calculateAllowance(): transport allowance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calculateDeduction(): 5% of basic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00000" y="55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Both classes inherit from Employee and override the pure virtual functions calculateAllowance(), calculateDeduction() and getEmployeeType() (runtime polymorphism).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2314" y="1188720"/>
            <a:ext cx="2103120" cy="566928"/>
          </a:xfrm>
          <a:prstGeom prst="roundRect">
            <a:avLst/>
          </a:prstGeom>
          <a:solidFill>
            <a:srgbClr val="2D69AA"/>
          </a:solidFill>
          <a:ln>
            <a:solidFill>
              <a:srgbClr val="2D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 dirty="0"/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54" y="1234441"/>
            <a:ext cx="466826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 dirty="0"/>
              <a:t>Groups all employee details into one unit.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2314" y="2148840"/>
            <a:ext cx="2103120" cy="566928"/>
          </a:xfrm>
          <a:prstGeom prst="roundRect">
            <a:avLst/>
          </a:prstGeom>
          <a:solidFill>
            <a:srgbClr val="34825F"/>
          </a:solidFill>
          <a:ln>
            <a:solidFill>
              <a:srgbClr val="348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9754" y="2194561"/>
            <a:ext cx="690605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Access and modify employee data indirectly using Employee*.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2314" y="3108960"/>
            <a:ext cx="2103120" cy="566928"/>
          </a:xfrm>
          <a:prstGeom prst="roundRect">
            <a:avLst/>
          </a:prstGeom>
          <a:solidFill>
            <a:srgbClr val="2D69AA"/>
          </a:solidFill>
          <a:ln>
            <a:solidFill>
              <a:srgbClr val="2D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755" y="3154681"/>
            <a:ext cx="6381875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Separate input, salary calculation and payslip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314" y="4069080"/>
            <a:ext cx="2103120" cy="566928"/>
          </a:xfrm>
          <a:prstGeom prst="roundRect">
            <a:avLst/>
          </a:prstGeom>
          <a:solidFill>
            <a:srgbClr val="34825F"/>
          </a:solidFill>
          <a:ln>
            <a:solidFill>
              <a:srgbClr val="348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9754" y="4114801"/>
            <a:ext cx="501868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Accepts employee information from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314" y="5029200"/>
            <a:ext cx="2103120" cy="566928"/>
          </a:xfrm>
          <a:prstGeom prst="roundRect">
            <a:avLst/>
          </a:prstGeom>
          <a:solidFill>
            <a:srgbClr val="2D69AA"/>
          </a:solidFill>
          <a:ln>
            <a:solidFill>
              <a:srgbClr val="2D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9755" y="5074921"/>
            <a:ext cx="53062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Displays employee details and the final payslip.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1356" y="6446521"/>
            <a:ext cx="2551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CB02D-4B8E-0513-AA03-DD0426C30B15}"/>
              </a:ext>
            </a:extLst>
          </p:cNvPr>
          <p:cNvSpPr txBox="1"/>
          <p:nvPr/>
        </p:nvSpPr>
        <p:spPr>
          <a:xfrm>
            <a:off x="3864871" y="298265"/>
            <a:ext cx="65286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Concepts Used</a:t>
            </a:r>
            <a:endParaRPr lang="en-IN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Core C++ Implementation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Times New Roman"/>
              </a:rPr>
              <a:t>Employee is declared as an abstract base class using pure virtual functions: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0000" y="1750000"/>
            <a:ext cx="10900000" cy="245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80000" bIns="80000" rtlCol="0" anchor="ctr"/>
          <a:lstStyle/>
          <a:p>
            <a:pPr algn="ctr"/>
            <a:r>
              <a:rPr sz="1500" dirty="0">
                <a:solidFill>
                  <a:srgbClr val="E8E8E8"/>
                </a:solidFill>
                <a:latin typeface="Consolas"/>
              </a:rPr>
              <a:t>class Employee {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protected: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int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employeeId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; string name, department, designation;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basicSalary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public: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virtual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calculateAllowance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= 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virtual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calculateDeduction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= 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virtual string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getEmployeeType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= 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...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};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0000" y="435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PermanentEmployee overrides these functions with its own payroll rule: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0000" y="4850000"/>
            <a:ext cx="10900000" cy="155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80000" bIns="80000" rtlCol="0" anchor="ctr"/>
          <a:lstStyle/>
          <a:p>
            <a:pPr algn="ctr"/>
            <a:r>
              <a:rPr sz="1500" dirty="0">
                <a:solidFill>
                  <a:srgbClr val="E8E8E8"/>
                </a:solidFill>
                <a:latin typeface="Consolas"/>
              </a:rPr>
              <a:t>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PermanentEmployee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::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calculateAllowance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override {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hra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basicSalary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* 0.20;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double da  =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basicSalary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* 0.10;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return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hra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+ da + bonus;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Salary Calculation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B36A89-A492-5FDF-9DF7-DC0D19BED646}"/>
              </a:ext>
            </a:extLst>
          </p:cNvPr>
          <p:cNvSpPr/>
          <p:nvPr/>
        </p:nvSpPr>
        <p:spPr>
          <a:xfrm>
            <a:off x="792000" y="1830878"/>
            <a:ext cx="4487895" cy="3755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              Permanent Employee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HRA = 20% of Basic Salary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DA = 10% of Basic Salary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Allowance = HRA + DA + Bonus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PF Deduction = 12% of Basic Salary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Gross Salary = Basic + Allowance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Net Salary = Gross − Deduction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893F8E-816E-163C-5B69-6D84232A9537}"/>
              </a:ext>
            </a:extLst>
          </p:cNvPr>
          <p:cNvSpPr/>
          <p:nvPr/>
        </p:nvSpPr>
        <p:spPr>
          <a:xfrm>
            <a:off x="6747705" y="1859636"/>
            <a:ext cx="4487895" cy="36984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                Contract Employee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Allowance = Transport Allowance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Deduction = 5% of Basic Salary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Gross Salary = Basic + Allowance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Net Salary = Gross − Deduction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96908" y="750159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Code Execution and Output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2" name="Right Arrow 131"/>
          <p:cNvSpPr/>
          <p:nvPr/>
        </p:nvSpPr>
        <p:spPr>
          <a:xfrm>
            <a:off x="4104698" y="3617284"/>
            <a:ext cx="340000" cy="406441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ight Arrow 134"/>
          <p:cNvSpPr/>
          <p:nvPr/>
        </p:nvSpPr>
        <p:spPr>
          <a:xfrm flipV="1">
            <a:off x="8018703" y="3692940"/>
            <a:ext cx="340000" cy="39724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174FD5-C904-8E2B-CB23-5AEE9977FCEE}"/>
              </a:ext>
            </a:extLst>
          </p:cNvPr>
          <p:cNvSpPr/>
          <p:nvPr/>
        </p:nvSpPr>
        <p:spPr>
          <a:xfrm>
            <a:off x="691136" y="2432115"/>
            <a:ext cx="3219728" cy="3079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imes New Roman"/>
              </a:rPr>
              <a:t>Employee ID, Name,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Department, Designation,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Basic Salary,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Employee Type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(Permanent / Contract)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38D59-A2A0-C794-6EF7-9C74803E756A}"/>
              </a:ext>
            </a:extLst>
          </p:cNvPr>
          <p:cNvSpPr txBox="1"/>
          <p:nvPr/>
        </p:nvSpPr>
        <p:spPr>
          <a:xfrm>
            <a:off x="-1028465" y="2654145"/>
            <a:ext cx="6361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E271CF-B8F9-C680-C933-BF7A19B0CA92}"/>
              </a:ext>
            </a:extLst>
          </p:cNvPr>
          <p:cNvSpPr/>
          <p:nvPr/>
        </p:nvSpPr>
        <p:spPr>
          <a:xfrm>
            <a:off x="8593149" y="2466137"/>
            <a:ext cx="3219728" cy="3079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dirty="0" err="1">
                <a:solidFill>
                  <a:srgbClr val="000000"/>
                </a:solidFill>
                <a:latin typeface="Times New Roman"/>
              </a:rPr>
              <a:t>Payslip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 displayed on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console via</a:t>
            </a:r>
          </a:p>
          <a:p>
            <a:pPr algn="ctr"/>
            <a:r>
              <a:rPr lang="en-US" dirty="0" err="1">
                <a:solidFill>
                  <a:srgbClr val="000000"/>
                </a:solidFill>
                <a:latin typeface="Times New Roman"/>
              </a:rPr>
              <a:t>displayPayslip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5C52C7-565A-FB7E-3831-8362CC0FD5D4}"/>
              </a:ext>
            </a:extLst>
          </p:cNvPr>
          <p:cNvSpPr/>
          <p:nvPr/>
        </p:nvSpPr>
        <p:spPr>
          <a:xfrm>
            <a:off x="4564529" y="2485997"/>
            <a:ext cx="3219728" cy="3079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Create Employee object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Times New Roman"/>
              </a:rPr>
              <a:t>make_unique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Calculate Allowance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Calculate Deduction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Calculate Gross / Net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Salary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DD47D7-9E82-4679-3C36-36C628B896CD}"/>
              </a:ext>
            </a:extLst>
          </p:cNvPr>
          <p:cNvSpPr txBox="1"/>
          <p:nvPr/>
        </p:nvSpPr>
        <p:spPr>
          <a:xfrm>
            <a:off x="2623028" y="2691421"/>
            <a:ext cx="661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PROCESS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7B682-9B81-9ACE-9E28-18B96828FB90}"/>
              </a:ext>
            </a:extLst>
          </p:cNvPr>
          <p:cNvSpPr txBox="1"/>
          <p:nvPr/>
        </p:nvSpPr>
        <p:spPr>
          <a:xfrm>
            <a:off x="6896917" y="2691421"/>
            <a:ext cx="661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 err="1">
                <a:solidFill>
                  <a:srgbClr val="002060"/>
                </a:solidFill>
                <a:latin typeface="Times New Roman"/>
                <a:ea typeface="Times New Roman"/>
              </a:rPr>
              <a:t>Payslip</a:t>
            </a: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 Output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23880" y="1323360"/>
            <a:ext cx="11000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Times New Roman"/>
              </a:rPr>
              <a:t>Sample console output produced by display</a:t>
            </a:r>
            <a:r>
              <a:rPr lang="en-IN" sz="16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</a:rPr>
              <a:t>Payslip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() for a Permanent Employee: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00000" y="1750000"/>
            <a:ext cx="9600000" cy="430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80000" bIns="80000" rtlCol="0" anchor="ctr"/>
          <a:lstStyle/>
          <a:p>
            <a:pPr algn="ctr"/>
            <a:r>
              <a:rPr sz="1500" dirty="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          EMPLOYEE PAYSLIP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Employee ID       : 10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0</a:t>
            </a:r>
            <a:endParaRPr sz="1500" dirty="0">
              <a:solidFill>
                <a:srgbClr val="E8E8E8"/>
              </a:solidFill>
              <a:latin typeface="Consolas"/>
            </a:endParaRP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Employee Name     : </a:t>
            </a:r>
            <a:r>
              <a:rPr lang="en-IN" sz="1500" dirty="0" err="1">
                <a:solidFill>
                  <a:srgbClr val="E8E8E8"/>
                </a:solidFill>
                <a:latin typeface="Consolas"/>
              </a:rPr>
              <a:t>K.Pavan</a:t>
            </a:r>
            <a:endParaRPr lang="en-IN" sz="1500" dirty="0">
              <a:solidFill>
                <a:srgbClr val="E8E8E8"/>
              </a:solidFill>
              <a:latin typeface="Consolas"/>
            </a:endParaRPr>
          </a:p>
          <a:p>
            <a:r>
              <a:rPr lang="en-IN" sz="1500" dirty="0">
                <a:solidFill>
                  <a:srgbClr val="E8E8E8"/>
                </a:solidFill>
                <a:latin typeface="Consolas"/>
              </a:rPr>
              <a:t>Employee Type     : Permanent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Department        :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CSE</a:t>
            </a:r>
            <a:endParaRPr sz="1500" dirty="0">
              <a:solidFill>
                <a:srgbClr val="E8E8E8"/>
              </a:solidFill>
              <a:latin typeface="Consolas"/>
            </a:endParaRP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Designation       :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web designer</a:t>
            </a:r>
            <a:endParaRPr sz="1500" dirty="0">
              <a:solidFill>
                <a:srgbClr val="E8E8E8"/>
              </a:solidFill>
              <a:latin typeface="Consolas"/>
            </a:endParaRP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--------------------------------------------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Basic Salary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60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Allowances  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8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Gross Salary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68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Deductions        : Rs. 3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0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--------------------------------------------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Net Salary  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650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Payroll Report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 err="1">
                <a:solidFill>
                  <a:srgbClr val="000000"/>
                </a:solidFill>
                <a:latin typeface="Times New Roman"/>
              </a:rPr>
              <a:t>payrollReport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() loops through every employee in the vector and accumulates totals for the whole organization: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22922"/>
              </p:ext>
            </p:extLst>
          </p:nvPr>
        </p:nvGraphicFramePr>
        <p:xfrm>
          <a:off x="1600000" y="2050000"/>
          <a:ext cx="8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Sample 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Number of Employees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sz="15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Basic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78,000.00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Gross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99,800.00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Deductions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8,260.00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Net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Rs. 91,540.00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57336" y="62856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Error Handling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23645" y="2057636"/>
            <a:ext cx="10440182" cy="54247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"Invalid employee type"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entered choice is neither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(Permanent)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(Contract)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 employee records available"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report or employee list is accessed while the list is empty.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"Employee not found"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entered or searched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exist in the records.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"Invalid menu choice"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a menu option other than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 from the main menu. </a:t>
            </a:r>
          </a:p>
          <a:p>
            <a:pPr marL="431640" indent="-323640">
              <a:lnSpc>
                <a:spcPct val="15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23880" y="410531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Live Demonstration Flow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80ADB7-5EE3-DD8C-4E25-97D001CF2F0B}"/>
              </a:ext>
            </a:extLst>
          </p:cNvPr>
          <p:cNvSpPr/>
          <p:nvPr/>
        </p:nvSpPr>
        <p:spPr>
          <a:xfrm>
            <a:off x="1573161" y="1555332"/>
            <a:ext cx="9577479" cy="50519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DB859-51F2-7987-F97A-B69618A33E6A}"/>
              </a:ext>
            </a:extLst>
          </p:cNvPr>
          <p:cNvSpPr txBox="1"/>
          <p:nvPr/>
        </p:nvSpPr>
        <p:spPr>
          <a:xfrm>
            <a:off x="1917290" y="1897626"/>
            <a:ext cx="9045677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1. Add Employee — add a Permanent and a Contract employee record.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2. Display All Employees — view stored records with gross / net salary.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3. Search Employee — search by Employee ID and view the full payslip.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4. Generate Payslip — print the payslip for a chosen Employee ID.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5. Payroll Report — view organization-wide payroll totals.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6. Exit — close the menu-driven application.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6A50B66-3251-42E3-87CD-6FA4960BC9FB}" type="slidenum">
              <a:rPr lang="en-IN" sz="1200" b="0" strike="noStrike" spc="-1">
                <a:solidFill>
                  <a:srgbClr val="898989"/>
                </a:solidFill>
                <a:latin typeface="Arial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36C09-A9F8-E346-489A-71DDEE120F5C}"/>
              </a:ext>
            </a:extLst>
          </p:cNvPr>
          <p:cNvSpPr txBox="1"/>
          <p:nvPr/>
        </p:nvSpPr>
        <p:spPr>
          <a:xfrm>
            <a:off x="4322071" y="3195484"/>
            <a:ext cx="35494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Britannic Bold" panose="020B0903060703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34029</TotalTime>
  <Words>1039</Words>
  <Application>Microsoft Office PowerPoint</Application>
  <PresentationFormat>Custom</PresentationFormat>
  <Paragraphs>201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17</vt:i4>
      </vt:variant>
    </vt:vector>
  </HeadingPairs>
  <TitlesOfParts>
    <vt:vector size="39" baseType="lpstr">
      <vt:lpstr>Arial</vt:lpstr>
      <vt:lpstr>Britannic Bold</vt:lpstr>
      <vt:lpstr>Calibri</vt:lpstr>
      <vt:lpstr>Consolas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Problem Statement</vt:lpstr>
      <vt:lpstr>PowerPoint Presentation</vt:lpstr>
      <vt:lpstr>PowerPoint Presentation</vt:lpstr>
      <vt:lpstr>Implementation Progress</vt:lpstr>
      <vt:lpstr>Class Structure</vt:lpstr>
      <vt:lpstr>PowerPoint Presentation</vt:lpstr>
      <vt:lpstr>Core C++ Implementation</vt:lpstr>
      <vt:lpstr>Salary Calculation</vt:lpstr>
      <vt:lpstr>Code Execution and Output</vt:lpstr>
      <vt:lpstr>Payslip Output</vt:lpstr>
      <vt:lpstr>Payroll Report</vt:lpstr>
      <vt:lpstr>Error Handling</vt:lpstr>
      <vt:lpstr>Live Demonstration 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Likitha</dc:creator>
  <cp:lastModifiedBy>Likhithasatyasri Polisetti</cp:lastModifiedBy>
  <cp:revision>1</cp:revision>
  <dcterms:modified xsi:type="dcterms:W3CDTF">2026-09-22T06:43:01Z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Administrator</dc:creator>
  <dc:description/>
  <dc:language>en-US</dc:language>
  <cp:lastModifiedBy>Anusha sree</cp:lastModifiedBy>
  <dcterms:modified xsi:type="dcterms:W3CDTF">2026-09-15T14:19:38Z</dcterms:modified>
  <cp:revision>451</cp:revision>
  <dc:subject/>
  <dc:title>UNIT-I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21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118</vt:r8>
  </property>
</Properties>
</file>